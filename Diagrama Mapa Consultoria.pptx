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3716000" cy="11049000"/>
  <p:notesSz cx="11049000" cy="1371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E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9100"/>
            <a:ext cx="28906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" kern="0" dirty="0">
                <a:solidFill>
                  <a:srgbClr val="2C3E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de Consultoría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742950"/>
            <a:ext cx="289064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8A9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CONTACTO A LA MEJORA CONTINUA</a:t>
            </a:r>
            <a:endParaRPr lang="en-US" sz="82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3716000" cy="11049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53200" y="4267200"/>
            <a:ext cx="2514600" cy="2514600"/>
          </a:xfrm>
          <a:prstGeom prst="ellipse">
            <a:avLst/>
          </a:prstGeom>
          <a:gradFill rotWithShape="1">
            <a:gsLst>
              <a:gs pos="0">
                <a:srgbClr val="35C2D3">
                  <a:alpha val="100000"/>
                </a:srgbClr>
              </a:gs>
              <a:gs pos="55000">
                <a:srgbClr val="2E7CC4">
                  <a:alpha val="100000"/>
                </a:srgbClr>
              </a:gs>
              <a:gs pos="100000">
                <a:srgbClr val="2A4E86">
                  <a:alpha val="100000"/>
                </a:srgbClr>
              </a:gs>
            </a:gsLst>
            <a:lin ang="3000000" scaled="0"/>
          </a:gradFill>
          <a:ln/>
          <a:effectLst>
            <a:outerShdw sx="100000" sy="100000" kx="0" ky="0" algn="bl" rotWithShape="0" blurRad="495300" dist="209550" dir="5400000">
              <a:srgbClr val="2C4E86">
                <a:alpha val="5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0" y="4572000"/>
            <a:ext cx="1905000" cy="1905000"/>
          </a:xfrm>
          <a:prstGeom prst="ellipse">
            <a:avLst/>
          </a:prstGeom>
          <a:solidFill>
            <a:srgbClr val="F7F8F8"/>
          </a:solidFill>
          <a:ln w="19050">
            <a:solidFill>
              <a:srgbClr val="BAC1C5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7497961" y="5119688"/>
            <a:ext cx="62492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spc="324" kern="0" dirty="0">
                <a:solidFill>
                  <a:srgbClr val="5A6E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CICLO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867034" y="5310188"/>
            <a:ext cx="188693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75" b="1" spc="19" kern="0" dirty="0">
                <a:solidFill>
                  <a:srgbClr val="2C4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ESTRATÉGICO</a:t>
            </a:r>
            <a:endParaRPr lang="en-US" sz="1875" dirty="0"/>
          </a:p>
        </p:txBody>
      </p:sp>
      <p:sp>
        <p:nvSpPr>
          <p:cNvPr id="9" name="Shape 6"/>
          <p:cNvSpPr/>
          <p:nvPr/>
        </p:nvSpPr>
        <p:spPr>
          <a:xfrm>
            <a:off x="7524750" y="5634038"/>
            <a:ext cx="76200" cy="76200"/>
          </a:xfrm>
          <a:prstGeom prst="ellipse">
            <a:avLst/>
          </a:prstGeom>
          <a:solidFill>
            <a:srgbClr val="35C2D3"/>
          </a:solidFill>
          <a:ln/>
        </p:spPr>
      </p:sp>
      <p:sp>
        <p:nvSpPr>
          <p:cNvPr id="10" name="Shape 7"/>
          <p:cNvSpPr/>
          <p:nvPr/>
        </p:nvSpPr>
        <p:spPr>
          <a:xfrm>
            <a:off x="7648575" y="5634038"/>
            <a:ext cx="76200" cy="76200"/>
          </a:xfrm>
          <a:prstGeom prst="ellipse">
            <a:avLst/>
          </a:prstGeom>
          <a:solidFill>
            <a:srgbClr val="2E86D8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0" y="5634038"/>
            <a:ext cx="76200" cy="76200"/>
          </a:xfrm>
          <a:prstGeom prst="ellipse">
            <a:avLst/>
          </a:prstGeom>
          <a:solidFill>
            <a:srgbClr val="2C4E86"/>
          </a:solidFill>
          <a:ln/>
        </p:spPr>
      </p:sp>
      <p:sp>
        <p:nvSpPr>
          <p:cNvPr id="12" name="Shape 9"/>
          <p:cNvSpPr/>
          <p:nvPr/>
        </p:nvSpPr>
        <p:spPr>
          <a:xfrm>
            <a:off x="7896225" y="5634038"/>
            <a:ext cx="76200" cy="76200"/>
          </a:xfrm>
          <a:prstGeom prst="ellipse">
            <a:avLst/>
          </a:prstGeom>
          <a:solidFill>
            <a:srgbClr val="3E535E"/>
          </a:solidFill>
          <a:ln/>
        </p:spPr>
      </p:sp>
      <p:sp>
        <p:nvSpPr>
          <p:cNvPr id="13" name="Shape 10"/>
          <p:cNvSpPr/>
          <p:nvPr/>
        </p:nvSpPr>
        <p:spPr>
          <a:xfrm>
            <a:off x="8020050" y="5634038"/>
            <a:ext cx="76200" cy="76200"/>
          </a:xfrm>
          <a:prstGeom prst="ellipse">
            <a:avLst/>
          </a:prstGeom>
          <a:solidFill>
            <a:srgbClr val="2FA58E"/>
          </a:solidFill>
          <a:ln/>
        </p:spPr>
      </p:sp>
      <p:sp>
        <p:nvSpPr>
          <p:cNvPr id="14" name="Shape 11"/>
          <p:cNvSpPr/>
          <p:nvPr/>
        </p:nvSpPr>
        <p:spPr>
          <a:xfrm>
            <a:off x="4476750" y="5048250"/>
            <a:ext cx="952500" cy="952500"/>
          </a:xfrm>
          <a:prstGeom prst="ellipse">
            <a:avLst/>
          </a:prstGeom>
          <a:gradFill rotWithShape="1">
            <a:gsLst>
              <a:gs pos="0">
                <a:srgbClr val="37C3D4">
                  <a:alpha val="100000"/>
                </a:srgbClr>
              </a:gs>
              <a:gs pos="100000">
                <a:srgbClr val="1B8A9B">
                  <a:alpha val="100000"/>
                </a:srgbClr>
              </a:gs>
            </a:gsLst>
            <a:lin ang="3300000" scaled="0"/>
          </a:gradFill>
          <a:ln/>
          <a:effectLst>
            <a:outerShdw sx="100000" sy="100000" kx="0" ky="0" algn="bl" rotWithShape="0" blurRad="285750" dist="142875" dir="5400000">
              <a:srgbClr val="1B8A9B">
                <a:alpha val="5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743450" y="53149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Material Symbols Outlined" pitchFamily="34" charset="0"/>
                <a:ea typeface="Material Symbols Outlined" pitchFamily="34" charset="-122"/>
                <a:cs typeface="Material Symbols Outlined" pitchFamily="34" charset="-120"/>
              </a:rPr>
              <a:t>troubleshoot</a:t>
            </a:r>
            <a:endParaRPr lang="en-US" sz="3300" dirty="0"/>
          </a:p>
        </p:txBody>
      </p:sp>
      <p:sp>
        <p:nvSpPr>
          <p:cNvPr id="16" name="Text 13"/>
          <p:cNvSpPr/>
          <p:nvPr/>
        </p:nvSpPr>
        <p:spPr>
          <a:xfrm>
            <a:off x="3779520" y="3810000"/>
            <a:ext cx="234696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spc="56" kern="0" dirty="0">
                <a:solidFill>
                  <a:srgbClr val="1B8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3848100" y="4019550"/>
            <a:ext cx="2209800" cy="333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863" dirty="0">
                <a:solidFill>
                  <a:srgbClr val="7C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Detectar problemas de raíz y oportunidades reales.</a:t>
            </a:r>
            <a:endParaRPr lang="en-US" sz="863" dirty="0"/>
          </a:p>
        </p:txBody>
      </p:sp>
      <p:sp>
        <p:nvSpPr>
          <p:cNvPr id="18" name="Text 15"/>
          <p:cNvSpPr/>
          <p:nvPr/>
        </p:nvSpPr>
        <p:spPr>
          <a:xfrm>
            <a:off x="3779520" y="4381798"/>
            <a:ext cx="234696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spc="171" kern="0" dirty="0">
                <a:solidFill>
                  <a:srgbClr val="1B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</a:t>
            </a:r>
            <a:endParaRPr lang="en-US" sz="713" dirty="0"/>
          </a:p>
        </p:txBody>
      </p:sp>
      <p:sp>
        <p:nvSpPr>
          <p:cNvPr id="19" name="Text 16"/>
          <p:cNvSpPr/>
          <p:nvPr/>
        </p:nvSpPr>
        <p:spPr>
          <a:xfrm>
            <a:off x="3779520" y="4505623"/>
            <a:ext cx="23469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8A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905500" y="2571750"/>
            <a:ext cx="952500" cy="952500"/>
          </a:xfrm>
          <a:prstGeom prst="ellipse">
            <a:avLst/>
          </a:prstGeom>
          <a:gradFill rotWithShape="1">
            <a:gsLst>
              <a:gs pos="0">
                <a:srgbClr val="3B92E0">
                  <a:alpha val="100000"/>
                </a:srgbClr>
              </a:gs>
              <a:gs pos="100000">
                <a:srgbClr val="1F5FA8">
                  <a:alpha val="100000"/>
                </a:srgbClr>
              </a:gs>
            </a:gsLst>
            <a:lin ang="3300000" scaled="0"/>
          </a:gradFill>
          <a:ln/>
          <a:effectLst>
            <a:outerShdw sx="100000" sy="100000" kx="0" ky="0" algn="bl" rotWithShape="0" blurRad="285750" dist="142875" dir="5400000">
              <a:srgbClr val="1F5FA8">
                <a:alpha val="5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172200" y="28384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Material Symbols Outlined" pitchFamily="34" charset="0"/>
                <a:ea typeface="Material Symbols Outlined" pitchFamily="34" charset="-122"/>
                <a:cs typeface="Material Symbols Outlined" pitchFamily="34" charset="-120"/>
              </a:rPr>
              <a:t>fact_check</a:t>
            </a:r>
            <a:endParaRPr lang="en-US" sz="3300" dirty="0"/>
          </a:p>
        </p:txBody>
      </p:sp>
      <p:sp>
        <p:nvSpPr>
          <p:cNvPr id="22" name="Shape 19"/>
          <p:cNvSpPr/>
          <p:nvPr/>
        </p:nvSpPr>
        <p:spPr>
          <a:xfrm>
            <a:off x="5004048" y="1181100"/>
            <a:ext cx="1282452" cy="171450"/>
          </a:xfrm>
          <a:prstGeom prst="roundRect">
            <a:avLst>
              <a:gd name="adj" fmla="val 27778"/>
            </a:avLst>
          </a:prstGeom>
          <a:solidFill>
            <a:srgbClr val="F4ECDE"/>
          </a:solidFill>
          <a:ln/>
        </p:spPr>
      </p:sp>
      <p:sp>
        <p:nvSpPr>
          <p:cNvPr id="23" name="Text 20"/>
          <p:cNvSpPr/>
          <p:nvPr/>
        </p:nvSpPr>
        <p:spPr>
          <a:xfrm>
            <a:off x="5004048" y="1209675"/>
            <a:ext cx="120625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675" spc="54" kern="0" dirty="0">
                <a:solidFill>
                  <a:srgbClr val="B07C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◀ DECIDE EL CLIENTE</a:t>
            </a:r>
            <a:endParaRPr lang="en-US" sz="675" dirty="0"/>
          </a:p>
        </p:txBody>
      </p:sp>
      <p:sp>
        <p:nvSpPr>
          <p:cNvPr id="24" name="Text 21"/>
          <p:cNvSpPr/>
          <p:nvPr/>
        </p:nvSpPr>
        <p:spPr>
          <a:xfrm>
            <a:off x="3876675" y="1419225"/>
            <a:ext cx="24098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spc="56" kern="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ESTRATÉGICO</a:t>
            </a:r>
            <a:endParaRPr lang="en-US" sz="1125" dirty="0"/>
          </a:p>
        </p:txBody>
      </p:sp>
      <p:sp>
        <p:nvSpPr>
          <p:cNvPr id="25" name="Text 22"/>
          <p:cNvSpPr/>
          <p:nvPr/>
        </p:nvSpPr>
        <p:spPr>
          <a:xfrm>
            <a:off x="4019550" y="1628775"/>
            <a:ext cx="2266950" cy="333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863" dirty="0">
                <a:solidFill>
                  <a:srgbClr val="7C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Líneas de mejora presentadas con su impacto estimado.</a:t>
            </a:r>
            <a:endParaRPr lang="en-US" sz="863" dirty="0"/>
          </a:p>
        </p:txBody>
      </p:sp>
      <p:sp>
        <p:nvSpPr>
          <p:cNvPr id="26" name="Text 23"/>
          <p:cNvSpPr/>
          <p:nvPr/>
        </p:nvSpPr>
        <p:spPr>
          <a:xfrm>
            <a:off x="3876675" y="1991023"/>
            <a:ext cx="240982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13" spc="171" kern="0" dirty="0">
                <a:solidFill>
                  <a:srgbClr val="1F5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</a:t>
            </a:r>
            <a:endParaRPr lang="en-US" sz="713" dirty="0"/>
          </a:p>
        </p:txBody>
      </p:sp>
      <p:sp>
        <p:nvSpPr>
          <p:cNvPr id="27" name="Text 24"/>
          <p:cNvSpPr/>
          <p:nvPr/>
        </p:nvSpPr>
        <p:spPr>
          <a:xfrm>
            <a:off x="3876675" y="2114848"/>
            <a:ext cx="24098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8763000" y="2571750"/>
            <a:ext cx="952500" cy="952500"/>
          </a:xfrm>
          <a:prstGeom prst="ellipse">
            <a:avLst/>
          </a:prstGeom>
          <a:gradFill rotWithShape="1">
            <a:gsLst>
              <a:gs pos="0">
                <a:srgbClr val="3E76C6">
                  <a:alpha val="100000"/>
                </a:srgbClr>
              </a:gs>
              <a:gs pos="100000">
                <a:srgbClr val="274F94">
                  <a:alpha val="100000"/>
                </a:srgbClr>
              </a:gs>
            </a:gsLst>
            <a:lin ang="3300000" scaled="0"/>
          </a:gradFill>
          <a:ln/>
          <a:effectLst>
            <a:outerShdw sx="100000" sy="100000" kx="0" ky="0" algn="bl" rotWithShape="0" blurRad="285750" dist="142875" dir="5400000">
              <a:srgbClr val="274F94">
                <a:alpha val="5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9029700" y="28384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Material Symbols Outlined" pitchFamily="34" charset="0"/>
                <a:ea typeface="Material Symbols Outlined" pitchFamily="34" charset="-122"/>
                <a:cs typeface="Material Symbols Outlined" pitchFamily="34" charset="-120"/>
              </a:rPr>
              <a:t>conversion_path</a:t>
            </a:r>
            <a:endParaRPr lang="en-US" sz="3300" dirty="0"/>
          </a:p>
        </p:txBody>
      </p:sp>
      <p:sp>
        <p:nvSpPr>
          <p:cNvPr id="30" name="Text 27"/>
          <p:cNvSpPr/>
          <p:nvPr/>
        </p:nvSpPr>
        <p:spPr>
          <a:xfrm>
            <a:off x="9620250" y="1428750"/>
            <a:ext cx="24098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56" kern="0" dirty="0">
                <a:solidFill>
                  <a:srgbClr val="274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TRADUCTOR ESTRATÉGICO</a:t>
            </a:r>
            <a:endParaRPr lang="en-US" sz="1125" dirty="0"/>
          </a:p>
        </p:txBody>
      </p:sp>
      <p:sp>
        <p:nvSpPr>
          <p:cNvPr id="31" name="Text 28"/>
          <p:cNvSpPr/>
          <p:nvPr/>
        </p:nvSpPr>
        <p:spPr>
          <a:xfrm>
            <a:off x="9620250" y="1638300"/>
            <a:ext cx="2266950" cy="333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63" dirty="0">
                <a:solidFill>
                  <a:srgbClr val="7C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elegidos → iniciativas coherentes.</a:t>
            </a:r>
            <a:endParaRPr lang="en-US" sz="863" dirty="0"/>
          </a:p>
        </p:txBody>
      </p:sp>
      <p:sp>
        <p:nvSpPr>
          <p:cNvPr id="32" name="Text 29"/>
          <p:cNvSpPr/>
          <p:nvPr/>
        </p:nvSpPr>
        <p:spPr>
          <a:xfrm>
            <a:off x="9620250" y="2000548"/>
            <a:ext cx="240982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171" kern="0" dirty="0">
                <a:solidFill>
                  <a:srgbClr val="274F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</a:t>
            </a:r>
            <a:endParaRPr lang="en-US" sz="713" dirty="0"/>
          </a:p>
        </p:txBody>
      </p:sp>
      <p:sp>
        <p:nvSpPr>
          <p:cNvPr id="33" name="Text 30"/>
          <p:cNvSpPr/>
          <p:nvPr/>
        </p:nvSpPr>
        <p:spPr>
          <a:xfrm>
            <a:off x="9620250" y="2124373"/>
            <a:ext cx="24098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74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10191750" y="5048250"/>
            <a:ext cx="952500" cy="952500"/>
          </a:xfrm>
          <a:prstGeom prst="ellipse">
            <a:avLst/>
          </a:prstGeom>
          <a:gradFill rotWithShape="1">
            <a:gsLst>
              <a:gs pos="0">
                <a:srgbClr val="4A6070">
                  <a:alpha val="100000"/>
                </a:srgbClr>
              </a:gs>
              <a:gs pos="100000">
                <a:srgbClr val="303F4C">
                  <a:alpha val="100000"/>
                </a:srgbClr>
              </a:gs>
            </a:gsLst>
            <a:lin ang="3300000" scaled="0"/>
          </a:gradFill>
          <a:ln/>
          <a:effectLst>
            <a:outerShdw sx="100000" sy="100000" kx="0" ky="0" algn="bl" rotWithShape="0" blurRad="285750" dist="142875" dir="5400000">
              <a:srgbClr val="303F4C">
                <a:alpha val="50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10458450" y="53149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Material Symbols Outlined" pitchFamily="34" charset="0"/>
                <a:ea typeface="Material Symbols Outlined" pitchFamily="34" charset="-122"/>
                <a:cs typeface="Material Symbols Outlined" pitchFamily="34" charset="-120"/>
              </a:rPr>
              <a:t>route</a:t>
            </a:r>
            <a:endParaRPr lang="en-US" sz="3300" dirty="0"/>
          </a:p>
        </p:txBody>
      </p:sp>
      <p:sp>
        <p:nvSpPr>
          <p:cNvPr id="36" name="Text 33"/>
          <p:cNvSpPr/>
          <p:nvPr/>
        </p:nvSpPr>
        <p:spPr>
          <a:xfrm>
            <a:off x="11391900" y="4972050"/>
            <a:ext cx="226314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56" kern="0" dirty="0">
                <a:solidFill>
                  <a:srgbClr val="30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DIRECTOR </a:t>
            </a:r>
            <a:pPr algn="l" indent="0" marL="0">
              <a:buNone/>
            </a:pPr>
            <a:r>
              <a:rPr lang="en-US" sz="825" spc="56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ROADMAP</a:t>
            </a:r>
            <a:endParaRPr lang="en-US" sz="1125" dirty="0"/>
          </a:p>
        </p:txBody>
      </p:sp>
      <p:sp>
        <p:nvSpPr>
          <p:cNvPr id="37" name="Text 34"/>
          <p:cNvSpPr/>
          <p:nvPr/>
        </p:nvSpPr>
        <p:spPr>
          <a:xfrm>
            <a:off x="11391900" y="5181600"/>
            <a:ext cx="2133600" cy="333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63" dirty="0">
                <a:solidFill>
                  <a:srgbClr val="7C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Iniciativas ordenadas por fases y prioridades.</a:t>
            </a:r>
            <a:endParaRPr lang="en-US" sz="863" dirty="0"/>
          </a:p>
        </p:txBody>
      </p:sp>
      <p:sp>
        <p:nvSpPr>
          <p:cNvPr id="38" name="Text 35"/>
          <p:cNvSpPr/>
          <p:nvPr/>
        </p:nvSpPr>
        <p:spPr>
          <a:xfrm>
            <a:off x="11391900" y="5543848"/>
            <a:ext cx="226314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171" kern="0" dirty="0">
                <a:solidFill>
                  <a:srgbClr val="303F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</a:t>
            </a:r>
            <a:endParaRPr lang="en-US" sz="713" dirty="0"/>
          </a:p>
        </p:txBody>
      </p:sp>
      <p:sp>
        <p:nvSpPr>
          <p:cNvPr id="39" name="Text 36"/>
          <p:cNvSpPr/>
          <p:nvPr/>
        </p:nvSpPr>
        <p:spPr>
          <a:xfrm>
            <a:off x="11391900" y="5667673"/>
            <a:ext cx="22631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30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8763000" y="7524750"/>
            <a:ext cx="952500" cy="952500"/>
          </a:xfrm>
          <a:prstGeom prst="ellipse">
            <a:avLst/>
          </a:prstGeom>
          <a:gradFill rotWithShape="1">
            <a:gsLst>
              <a:gs pos="0">
                <a:srgbClr val="5E7885">
                  <a:alpha val="100000"/>
                </a:srgbClr>
              </a:gs>
              <a:gs pos="100000">
                <a:srgbClr val="3E535E">
                  <a:alpha val="100000"/>
                </a:srgbClr>
              </a:gs>
            </a:gsLst>
            <a:lin ang="3300000" scaled="0"/>
          </a:gradFill>
          <a:ln/>
          <a:effectLst>
            <a:outerShdw sx="100000" sy="100000" kx="0" ky="0" algn="bl" rotWithShape="0" blurRad="285750" dist="142875" dir="5400000">
              <a:srgbClr val="3E535E">
                <a:alpha val="50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9029700" y="77914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Material Symbols Outlined" pitchFamily="34" charset="0"/>
                <a:ea typeface="Material Symbols Outlined" pitchFamily="34" charset="-122"/>
                <a:cs typeface="Material Symbols Outlined" pitchFamily="34" charset="-120"/>
              </a:rPr>
              <a:t>checklist</a:t>
            </a:r>
            <a:endParaRPr lang="en-US" sz="3300" dirty="0"/>
          </a:p>
        </p:txBody>
      </p:sp>
      <p:sp>
        <p:nvSpPr>
          <p:cNvPr id="42" name="Text 39"/>
          <p:cNvSpPr/>
          <p:nvPr/>
        </p:nvSpPr>
        <p:spPr>
          <a:xfrm>
            <a:off x="9620250" y="8572500"/>
            <a:ext cx="24098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56" kern="0" dirty="0">
                <a:solidFill>
                  <a:srgbClr val="3E5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IMPLANTACIÓN</a:t>
            </a:r>
            <a:endParaRPr lang="en-US" sz="1125" dirty="0"/>
          </a:p>
        </p:txBody>
      </p:sp>
      <p:sp>
        <p:nvSpPr>
          <p:cNvPr id="43" name="Text 40"/>
          <p:cNvSpPr/>
          <p:nvPr/>
        </p:nvSpPr>
        <p:spPr>
          <a:xfrm>
            <a:off x="9620250" y="8782050"/>
            <a:ext cx="2266950" cy="333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63" dirty="0">
                <a:solidFill>
                  <a:srgbClr val="7C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Tareas, responsables, dependencias y calendario.</a:t>
            </a:r>
            <a:endParaRPr lang="en-US" sz="863" dirty="0"/>
          </a:p>
        </p:txBody>
      </p:sp>
      <p:sp>
        <p:nvSpPr>
          <p:cNvPr id="44" name="Text 41"/>
          <p:cNvSpPr/>
          <p:nvPr/>
        </p:nvSpPr>
        <p:spPr>
          <a:xfrm>
            <a:off x="9620250" y="9144298"/>
            <a:ext cx="240982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171" kern="0" dirty="0">
                <a:solidFill>
                  <a:srgbClr val="3E53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</a:t>
            </a:r>
            <a:endParaRPr lang="en-US" sz="713" dirty="0"/>
          </a:p>
        </p:txBody>
      </p:sp>
      <p:sp>
        <p:nvSpPr>
          <p:cNvPr id="45" name="Text 42"/>
          <p:cNvSpPr/>
          <p:nvPr/>
        </p:nvSpPr>
        <p:spPr>
          <a:xfrm>
            <a:off x="9620250" y="9268123"/>
            <a:ext cx="24098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3E5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5905500" y="7524750"/>
            <a:ext cx="952500" cy="952500"/>
          </a:xfrm>
          <a:prstGeom prst="ellipse">
            <a:avLst/>
          </a:prstGeom>
          <a:gradFill rotWithShape="1">
            <a:gsLst>
              <a:gs pos="0">
                <a:srgbClr val="39BBA2">
                  <a:alpha val="100000"/>
                </a:srgbClr>
              </a:gs>
              <a:gs pos="100000">
                <a:srgbClr val="1E7C6A">
                  <a:alpha val="100000"/>
                </a:srgbClr>
              </a:gs>
            </a:gsLst>
            <a:lin ang="3300000" scaled="0"/>
          </a:gradFill>
          <a:ln/>
          <a:effectLst>
            <a:outerShdw sx="100000" sy="100000" kx="0" ky="0" algn="bl" rotWithShape="0" blurRad="285750" dist="142875" dir="5400000">
              <a:srgbClr val="1E7C6A">
                <a:alpha val="50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6172200" y="77914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Material Symbols Outlined" pitchFamily="34" charset="0"/>
                <a:ea typeface="Material Symbols Outlined" pitchFamily="34" charset="-122"/>
                <a:cs typeface="Material Symbols Outlined" pitchFamily="34" charset="-120"/>
              </a:rPr>
              <a:t>autorenew</a:t>
            </a:r>
            <a:endParaRPr lang="en-US" sz="3300" dirty="0"/>
          </a:p>
        </p:txBody>
      </p:sp>
      <p:sp>
        <p:nvSpPr>
          <p:cNvPr id="48" name="Text 45"/>
          <p:cNvSpPr/>
          <p:nvPr/>
        </p:nvSpPr>
        <p:spPr>
          <a:xfrm>
            <a:off x="4019550" y="8572500"/>
            <a:ext cx="22669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125" b="1" spc="56" kern="0" dirty="0">
                <a:solidFill>
                  <a:srgbClr val="1E7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SEGUIMIENTO Y OPTIMIZACIÓN</a:t>
            </a:r>
            <a:endParaRPr lang="en-US" sz="1125" dirty="0"/>
          </a:p>
        </p:txBody>
      </p:sp>
      <p:sp>
        <p:nvSpPr>
          <p:cNvPr id="49" name="Text 46"/>
          <p:cNvSpPr/>
          <p:nvPr/>
        </p:nvSpPr>
        <p:spPr>
          <a:xfrm>
            <a:off x="4019550" y="8943975"/>
            <a:ext cx="2266950" cy="333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863" dirty="0">
                <a:solidFill>
                  <a:srgbClr val="7C82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KPIs, revisar y mejorar de forma continua.</a:t>
            </a:r>
            <a:endParaRPr lang="en-US" sz="863" dirty="0"/>
          </a:p>
        </p:txBody>
      </p:sp>
      <p:sp>
        <p:nvSpPr>
          <p:cNvPr id="50" name="Shape 47"/>
          <p:cNvSpPr/>
          <p:nvPr/>
        </p:nvSpPr>
        <p:spPr>
          <a:xfrm>
            <a:off x="5010894" y="9344323"/>
            <a:ext cx="1275606" cy="171450"/>
          </a:xfrm>
          <a:prstGeom prst="roundRect">
            <a:avLst>
              <a:gd name="adj" fmla="val 27778"/>
            </a:avLst>
          </a:prstGeom>
          <a:solidFill>
            <a:srgbClr val="E1F0EC"/>
          </a:solidFill>
          <a:ln/>
        </p:spPr>
      </p:sp>
      <p:sp>
        <p:nvSpPr>
          <p:cNvPr id="51" name="Text 48"/>
          <p:cNvSpPr/>
          <p:nvPr/>
        </p:nvSpPr>
        <p:spPr>
          <a:xfrm>
            <a:off x="5010894" y="9372898"/>
            <a:ext cx="119940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675" spc="54" kern="0" dirty="0">
                <a:solidFill>
                  <a:srgbClr val="1E7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↺ VUELVE AL PASO 03</a:t>
            </a:r>
            <a:endParaRPr lang="en-US" sz="675" dirty="0"/>
          </a:p>
        </p:txBody>
      </p:sp>
      <p:sp>
        <p:nvSpPr>
          <p:cNvPr id="52" name="Text 49"/>
          <p:cNvSpPr/>
          <p:nvPr/>
        </p:nvSpPr>
        <p:spPr>
          <a:xfrm>
            <a:off x="3876675" y="9582448"/>
            <a:ext cx="240982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13" spc="171" kern="0" dirty="0">
                <a:solidFill>
                  <a:srgbClr val="1E7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</a:t>
            </a:r>
            <a:endParaRPr lang="en-US" sz="713" dirty="0"/>
          </a:p>
        </p:txBody>
      </p:sp>
      <p:sp>
        <p:nvSpPr>
          <p:cNvPr id="53" name="Text 50"/>
          <p:cNvSpPr/>
          <p:nvPr/>
        </p:nvSpPr>
        <p:spPr>
          <a:xfrm>
            <a:off x="3876675" y="9706273"/>
            <a:ext cx="24098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7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500" dirty="0"/>
          </a:p>
        </p:txBody>
      </p:sp>
      <p:sp>
        <p:nvSpPr>
          <p:cNvPr id="54" name="Text 51"/>
          <p:cNvSpPr/>
          <p:nvPr/>
        </p:nvSpPr>
        <p:spPr>
          <a:xfrm>
            <a:off x="457200" y="3067050"/>
            <a:ext cx="132016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spc="158" kern="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 DE ENTRADA</a:t>
            </a:r>
            <a:endParaRPr lang="en-US" sz="788" dirty="0"/>
          </a:p>
        </p:txBody>
      </p:sp>
      <p:sp>
        <p:nvSpPr>
          <p:cNvPr id="55" name="Shape 52"/>
          <p:cNvSpPr/>
          <p:nvPr/>
        </p:nvSpPr>
        <p:spPr>
          <a:xfrm>
            <a:off x="609600" y="3514725"/>
            <a:ext cx="590550" cy="590550"/>
          </a:xfrm>
          <a:prstGeom prst="ellipse">
            <a:avLst/>
          </a:prstGeom>
          <a:gradFill rotWithShape="1">
            <a:gsLst>
              <a:gs pos="0">
                <a:srgbClr val="7E939C">
                  <a:alpha val="100000"/>
                </a:srgbClr>
              </a:gs>
              <a:gs pos="100000">
                <a:srgbClr val="5A6E77">
                  <a:alpha val="100000"/>
                </a:srgbClr>
              </a:gs>
            </a:gsLst>
            <a:lin ang="3300000" scaled="0"/>
          </a:gradFill>
          <a:ln/>
          <a:effectLst>
            <a:outerShdw sx="100000" sy="100000" kx="0" ky="0" algn="bl" rotWithShape="0" blurRad="209550" dist="95250" dir="5400000">
              <a:srgbClr val="5A6E77">
                <a:alpha val="55000"/>
              </a:srgbClr>
            </a:outerShdw>
          </a:effectLst>
        </p:spPr>
      </p:sp>
      <p:sp>
        <p:nvSpPr>
          <p:cNvPr id="56" name="Text 53"/>
          <p:cNvSpPr/>
          <p:nvPr/>
        </p:nvSpPr>
        <p:spPr>
          <a:xfrm>
            <a:off x="771525" y="367665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aterial Symbols Outlined" pitchFamily="34" charset="0"/>
                <a:ea typeface="Material Symbols Outlined" pitchFamily="34" charset="-122"/>
                <a:cs typeface="Material Symbols Outlined" pitchFamily="34" charset="-120"/>
              </a:rPr>
              <a:t>handshake</a:t>
            </a:r>
            <a:endParaRPr lang="en-US" sz="2100" dirty="0"/>
          </a:p>
        </p:txBody>
      </p:sp>
      <p:sp>
        <p:nvSpPr>
          <p:cNvPr id="57" name="Text 54"/>
          <p:cNvSpPr/>
          <p:nvPr/>
        </p:nvSpPr>
        <p:spPr>
          <a:xfrm>
            <a:off x="1314450" y="3670995"/>
            <a:ext cx="157162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00</a:t>
            </a:r>
            <a:endParaRPr lang="en-US" sz="675" dirty="0"/>
          </a:p>
        </p:txBody>
      </p:sp>
      <p:sp>
        <p:nvSpPr>
          <p:cNvPr id="58" name="Text 55"/>
          <p:cNvSpPr/>
          <p:nvPr/>
        </p:nvSpPr>
        <p:spPr>
          <a:xfrm>
            <a:off x="1314450" y="3794820"/>
            <a:ext cx="1571625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4A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 y Encaje</a:t>
            </a:r>
            <a:endParaRPr lang="en-US" sz="1013" dirty="0"/>
          </a:p>
        </p:txBody>
      </p:sp>
      <p:sp>
        <p:nvSpPr>
          <p:cNvPr id="59" name="Shape 56"/>
          <p:cNvSpPr/>
          <p:nvPr/>
        </p:nvSpPr>
        <p:spPr>
          <a:xfrm>
            <a:off x="609600" y="4848225"/>
            <a:ext cx="590550" cy="590550"/>
          </a:xfrm>
          <a:prstGeom prst="ellipse">
            <a:avLst/>
          </a:prstGeom>
          <a:gradFill rotWithShape="1">
            <a:gsLst>
              <a:gs pos="0">
                <a:srgbClr val="7E939C">
                  <a:alpha val="100000"/>
                </a:srgbClr>
              </a:gs>
              <a:gs pos="100000">
                <a:srgbClr val="5A6E77">
                  <a:alpha val="100000"/>
                </a:srgbClr>
              </a:gs>
            </a:gsLst>
            <a:lin ang="3300000" scaled="0"/>
          </a:gradFill>
          <a:ln/>
          <a:effectLst>
            <a:outerShdw sx="100000" sy="100000" kx="0" ky="0" algn="bl" rotWithShape="0" blurRad="209550" dist="95250" dir="5400000">
              <a:srgbClr val="5A6E77">
                <a:alpha val="55000"/>
              </a:srgbClr>
            </a:outerShdw>
          </a:effectLst>
        </p:spPr>
      </p:sp>
      <p:sp>
        <p:nvSpPr>
          <p:cNvPr id="60" name="Text 57"/>
          <p:cNvSpPr/>
          <p:nvPr/>
        </p:nvSpPr>
        <p:spPr>
          <a:xfrm>
            <a:off x="771525" y="501015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aterial Symbols Outlined" pitchFamily="34" charset="0"/>
                <a:ea typeface="Material Symbols Outlined" pitchFamily="34" charset="-122"/>
                <a:cs typeface="Material Symbols Outlined" pitchFamily="34" charset="-120"/>
              </a:rPr>
              <a:t>badge</a:t>
            </a:r>
            <a:endParaRPr lang="en-US" sz="2100" dirty="0"/>
          </a:p>
        </p:txBody>
      </p:sp>
      <p:sp>
        <p:nvSpPr>
          <p:cNvPr id="61" name="Text 58"/>
          <p:cNvSpPr/>
          <p:nvPr/>
        </p:nvSpPr>
        <p:spPr>
          <a:xfrm>
            <a:off x="1314450" y="5004495"/>
            <a:ext cx="157162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01</a:t>
            </a:r>
            <a:endParaRPr lang="en-US" sz="675" dirty="0"/>
          </a:p>
        </p:txBody>
      </p:sp>
      <p:sp>
        <p:nvSpPr>
          <p:cNvPr id="62" name="Text 59"/>
          <p:cNvSpPr/>
          <p:nvPr/>
        </p:nvSpPr>
        <p:spPr>
          <a:xfrm>
            <a:off x="1314450" y="5128320"/>
            <a:ext cx="1571625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4A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del Negocio</a:t>
            </a:r>
            <a:endParaRPr lang="en-US" sz="1013" dirty="0"/>
          </a:p>
        </p:txBody>
      </p:sp>
      <p:sp>
        <p:nvSpPr>
          <p:cNvPr id="63" name="Shape 60"/>
          <p:cNvSpPr/>
          <p:nvPr/>
        </p:nvSpPr>
        <p:spPr>
          <a:xfrm>
            <a:off x="609600" y="6181725"/>
            <a:ext cx="590550" cy="590550"/>
          </a:xfrm>
          <a:prstGeom prst="ellipse">
            <a:avLst/>
          </a:prstGeom>
          <a:gradFill rotWithShape="1">
            <a:gsLst>
              <a:gs pos="0">
                <a:srgbClr val="7E939C">
                  <a:alpha val="100000"/>
                </a:srgbClr>
              </a:gs>
              <a:gs pos="100000">
                <a:srgbClr val="5A6E77">
                  <a:alpha val="100000"/>
                </a:srgbClr>
              </a:gs>
            </a:gsLst>
            <a:lin ang="3300000" scaled="0"/>
          </a:gradFill>
          <a:ln/>
          <a:effectLst>
            <a:outerShdw sx="100000" sy="100000" kx="0" ky="0" algn="bl" rotWithShape="0" blurRad="209550" dist="95250" dir="5400000">
              <a:srgbClr val="5A6E77">
                <a:alpha val="55000"/>
              </a:srgbClr>
            </a:outerShdw>
          </a:effectLst>
        </p:spPr>
      </p:sp>
      <p:sp>
        <p:nvSpPr>
          <p:cNvPr id="64" name="Text 61"/>
          <p:cNvSpPr/>
          <p:nvPr/>
        </p:nvSpPr>
        <p:spPr>
          <a:xfrm>
            <a:off x="771525" y="634365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aterial Symbols Outlined" pitchFamily="34" charset="0"/>
                <a:ea typeface="Material Symbols Outlined" pitchFamily="34" charset="-122"/>
                <a:cs typeface="Material Symbols Outlined" pitchFamily="34" charset="-120"/>
              </a:rPr>
              <a:t>query_stats</a:t>
            </a:r>
            <a:endParaRPr lang="en-US" sz="2100" dirty="0"/>
          </a:p>
        </p:txBody>
      </p:sp>
      <p:sp>
        <p:nvSpPr>
          <p:cNvPr id="65" name="Text 62"/>
          <p:cNvSpPr/>
          <p:nvPr/>
        </p:nvSpPr>
        <p:spPr>
          <a:xfrm>
            <a:off x="1314450" y="6337995"/>
            <a:ext cx="157162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22" kern="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02</a:t>
            </a:r>
            <a:endParaRPr lang="en-US" sz="675" dirty="0"/>
          </a:p>
        </p:txBody>
      </p:sp>
      <p:sp>
        <p:nvSpPr>
          <p:cNvPr id="66" name="Text 63"/>
          <p:cNvSpPr/>
          <p:nvPr/>
        </p:nvSpPr>
        <p:spPr>
          <a:xfrm>
            <a:off x="1314450" y="6461820"/>
            <a:ext cx="1571625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4A5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360º</a:t>
            </a:r>
            <a:endParaRPr lang="en-US" sz="101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2026-07-07T19:44:52Z</dcterms:created>
  <dcterms:modified xsi:type="dcterms:W3CDTF">2026-07-07T19:44:52Z</dcterms:modified>
</cp:coreProperties>
</file>